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bridging the gap between Global Climate Models and local adaptation needs using Deep Learning. This workshop is designed for both researchers and practitioners.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resentation_background_climate_professional_17761606499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 Using Machine Learning to downscale climate scenarios</a:t>
            </a:r>
          </a:p>
          <a:p>
            <a:pPr algn="ctr">
              <a:spcBef>
                <a:spcPts val="2000"/>
              </a:spcBef>
              <a:defRPr sz="2800">
                <a:solidFill>
                  <a:srgbClr val="00F5D4"/>
                </a:solidFill>
              </a:defRPr>
            </a:pPr>
            <a:r>
              <a:t> A Robust Statistical Downscaling Framework for Regional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Presenter:  Christian Pagé, Research Engineer at Cerfacs, Toulouse, France</a:t>
            </a:r>
          </a:p>
          <a:p>
            <a:pPr algn="ctr">
              <a:defRPr sz="1400">
                <a:solidFill>
                  <a:srgbClr val="B0BEC5"/>
                </a:solidFill>
              </a:defRPr>
            </a:pPr>
            <a:r>
              <a:t> | Irida Lazić, PhD, University of Belgrade, Serbia | Milica Tošić, University of Belgrade, Serbia</a:t>
            </a:r>
          </a:p>
          <a:p>
            <a:pPr algn="ctr">
              <a:spcBef>
                <a:spcPts val="1500"/>
              </a:spcBef>
              <a:defRPr sz="1400" i="1">
                <a:solidFill>
                  <a:srgbClr val="009688"/>
                </a:solidFill>
              </a:defRPr>
            </a:pPr>
            <a:r>
              <a:t> EGU26 General Assembly, Vienna, Austria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RESOLUTION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Problem: GCMs operate at ~100-150 km.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Need: Local adaptation requires &lt;10 km.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Challenges:</a:t>
            </a:r>
          </a:p>
          <a:p>
            <a:pPr lvl="1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Topography-induced temperature gradients.</a:t>
            </a:r>
          </a:p>
          <a:p>
            <a:pPr lvl="1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Coastline effects.</a:t>
            </a:r>
          </a:p>
          <a:p>
            <a:pPr lvl="1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Urban heat islands.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Goal: Reconstruct spatial variability hidden in coarse pixels.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"PERFECT MODEL"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Concept: Derived from Baño-Medina et al. (2020).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Key Idea: We cannot train on GCM-Observation pairs because their weather chronologies (dates) don't match.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Solution: Use ERA5 Reanalysis as a laboratory.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Steps: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491" y="1325880"/>
            <a:ext cx="46634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na_workflow_fig1_1_17761717594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11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WHY ERA5? ALIGNED CHRONOLOGY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Input (X): Coarsened ERA5 (Simulated GCM).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Target (Y): Original ERA5 Ground Truth.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Alignment: Perfect 1-to-1 match for every historical day.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Benefit: The model learns pure spatial physics without "weather guessing".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TRANSITION TO REAL GCMS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Once trained on ERA5, the "brain" is frozen.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We then feed real CMIP6 GCM data into it.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Assumption: The spatial relationships learned in the Reanalysis world hold true in the GCM world.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DOMAIN OF INTEREST: FRANCE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Bounding Box: [ -6.0, 10.0, 38.0, 54.0 ].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Resolution: 10 km target grid.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Physical Features: Massive Central, Alps, Pyrenees.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Selection: France was chosen for its high topographical contrast.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BIAS CORRECTION: THE IBICUS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Issue: GCMs have their own "Chronology Bias" (too cold/dry compared to history).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Responsibility: We must fix GCM distributions before downscaling.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Tool: </a:t>
            </a:r>
            <a:r>
              <a:rPr b="1">
                <a:solidFill>
                  <a:srgbClr val="00F5D4"/>
                </a:solidFill>
              </a:rPr>
              <a:t>Ibicus</a:t>
            </a:r>
            <a:r>
              <a:t> python package (CDF-t method).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Action: Align GCM data distributions with ERA5.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Result: The U-Net receives "ERA5-like" distributions, focusing pure spatial mapping.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U-NET: THE ARCHITECTURE OF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Structure: Encoder-Decoder.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Encoder: Compresses patterns into "climate features".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Decoder: Expands features back to a high-res grid.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Skip-Connections: The most critical component.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ROLE OF SKIP CONNECTIONS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Mechanism: Direct data bridges from Encoder to Decoder.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Purpose: Re-inject topographic details (Elevation) directly into the output.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Benefit: Prevents the mountains from "moving" or becoming blurry.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TRAINING SETTINGS (EXP5)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1828800"/>
          <a:ext cx="94484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498"/>
                <a:gridCol w="3149498"/>
                <a:gridCol w="3149499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**Epochs**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Sufficient for convergence.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**Batch Size**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Balance between speed and stability.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**Learning Rate**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Standard Adam optimizer starting point.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**Normalization**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</a:defRPr>
                      </a:pPr>
                      <a:r>
                        <a:t>Mean 0, Std 1 for targets.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"113 K" BIAS LESSON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Trap: Attempting to train directly on absolute Kelvin values (~284 K).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Failure: Loss (MSE) becomes massive: </a:t>
            </a:r>
            <a:r>
              <a:rPr b="1">
                <a:solidFill>
                  <a:srgbClr val="00F5D4"/>
                </a:solidFill>
              </a:rPr>
              <a:t>|284|^2 approx 80,000</a:t>
            </a:r>
            <a:r>
              <a:t>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Outcome: Gradients explode; weights saturate; RMSE plateaus at 113 K.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The Lesson: Always normalize your targets in Deep 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NORMALIZATION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Output Norm: </a:t>
            </a:r>
            <a:r>
              <a:rPr b="1">
                <a:solidFill>
                  <a:srgbClr val="00F5D4"/>
                </a:solidFill>
              </a:rPr>
              <a:t>(Target - Mean) / Std</a:t>
            </a:r>
            <a:r>
              <a:t>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Effect: Brings the range to approx [-3, 3].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Stability: Allows the loss function to focus on fine details, not massive magnitudes.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NUMERICAL TRAP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Lesson 1: Scaling is not optional.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Lesson 2: MSE sensitivity to magnitude can paralyze convergence.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Lesson 3: Check your training logs for "NaN" or flat plateaus 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PHASE 1: MODEL VALIDATION (MAPPING ACCURACY)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Scenario: Downscaling coerced ERA5 (Input) against ERA5-HR/E-OBS (Target).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Goal: Does a "perfect" input produce a perfect output?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Temporal RMSE: 4.15 K (Validated Benchmark).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Spatial Mean RMSE: 5.11 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MAPPING BIAS VS. GCM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Mapping Bias: The error between UNet output and Ground Truth (Mapping failures).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GCM Bias: The error between raw GCM and Reanalysis (Data failures).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Scientific Rule: You cannot assess Climate Change if your Mapping Bias is high on historical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SPATIAL DISTRIBUTION OF ERROR (RMSE)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Observation: Errors are remarkably low in plains.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Challenge: Errors concentrate in mountains.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Success: Mean spatial RMSE is 5.11 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1529143"/>
            <a:ext cx="5090007" cy="4256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ily_spatial_rmse_distribution_unet_gcm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1574863"/>
            <a:ext cx="4998567" cy="4165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SYSTEMATIC MAPPING BIAS (UNET BIAS)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Observation: The model shows a systematic warm bias (1.15 K).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Concentration: Highly localized in the Alps and high-altitude regions.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Interpretation: Systematic drift from ground truth even on ERA5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1529143"/>
            <a:ext cx="5090007" cy="4256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ily_spatial_bias_distribution_unet_gcm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1574863"/>
            <a:ext cx="4998567" cy="4165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THE ALPS CHALLENGE: A MAPPING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Observation: Winter RMSE in the Alps hits 10 K even on Reanalysis data.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Source: This is a pure mapping bias, not a GCM issue.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"Why": Missing local snow height and inversion layer physics.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Source: This is a pure mapping bias, not a GCM issue.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"Why":</a:t>
            </a:r>
          </a:p>
          <a:p>
            <a:pPr lvl="1"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Missing local snow height and inversion layer physics.</a:t>
            </a:r>
          </a:p>
          <a:p>
            <a:pPr lvl="1">
              <a:spcBef>
                <a:spcPts val="1200"/>
              </a:spcBef>
              <a:defRPr sz="1600">
                <a:solidFill>
                  <a:srgbClr val="FFFFFF"/>
                </a:solidFill>
              </a:defRPr>
            </a:pPr>
            <a:r>
              <a:t>Smoothing effect of the standard MSE loss function.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2112309"/>
            <a:ext cx="5090007" cy="30905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ily_rmse_seasonal_unet_gcm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2158029"/>
            <a:ext cx="4998567" cy="29991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VARIABILITY LOSS &amp; SMOOTHING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Observation: UNet variability is lower than GCM.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The "Regression to Mean" issue: MSE loss favors the average solution.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Consequence: Underestimation of extreme extremes.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2112309"/>
            <a:ext cx="5090007" cy="30905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5_variability_futur_trend_ssp585_g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2158029"/>
            <a:ext cx="4998567" cy="29991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DISTRIBUTION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Good News: The Gaussian peak of historical temperature is perfectly preserved.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2362238"/>
            <a:ext cx="5090007" cy="25907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s_ibicus_test_hist_histo_g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2407958"/>
            <a:ext cx="4998567" cy="24992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PHASE 2: PRODUCTION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09584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Scenario: SSP5-8.5 (High Emissions).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Result: Spatially resolved warming maps for 2015-2100.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0207" y="1945690"/>
            <a:ext cx="5090007" cy="34238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5_scientific_parity_at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7" y="1991410"/>
            <a:ext cx="4998567" cy="333237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FUTURE SCENARIOS: 2070 WARMING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Central Question: How hot will France be in 2070?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Pattern: Warming is not uniform; some regions amplify faster.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COLD BIAS ELIMINATION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Before: Generic models often had a -26 K cold bias.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After: Modern Normalization + Ibicus reduces global bias to </a:t>
            </a:r>
            <a:r>
              <a:rPr b="1">
                <a:solidFill>
                  <a:srgbClr val="00F5D4"/>
                </a:solidFill>
              </a:rPr>
              <a:t>&lt; 0.5 K</a:t>
            </a:r>
            <a: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TECHNICAL STACK: PYTHON &amp; CLIMATE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Core: </a:t>
            </a:r>
            <a:r>
              <a:rPr b="1">
                <a:solidFill>
                  <a:srgbClr val="00F5D4"/>
                </a:solidFill>
              </a:rPr>
              <a:t>xarray</a:t>
            </a:r>
            <a:r>
              <a:t>, </a:t>
            </a:r>
            <a:r>
              <a:rPr b="1">
                <a:solidFill>
                  <a:srgbClr val="00F5D4"/>
                </a:solidFill>
              </a:rPr>
              <a:t>netCDF4</a:t>
            </a:r>
            <a:r>
              <a:t>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DL: </a:t>
            </a:r>
            <a:r>
              <a:rPr b="1">
                <a:solidFill>
                  <a:srgbClr val="00F5D4"/>
                </a:solidFill>
              </a:rPr>
              <a:t>PyTorch Lightning</a:t>
            </a:r>
            <a: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PORTABILITY: SINGULARITY CONTAINERS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Why? Reproducibility across HPC nodes (Grace, Calypso).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IMPLEMENTATION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1. Data alignment -&gt; 2. Stats -&gt; 3. Training -&gt; 4. Inference -&gt; 5. Validation.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FUTURE RESEARCH: PRECIPITATION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Current Limit: </a:t>
            </a:r>
            <a:r>
              <a:rPr b="1">
                <a:solidFill>
                  <a:srgbClr val="00F5D4"/>
                </a:solidFill>
              </a:rPr>
              <a:t>MSE</a:t>
            </a:r>
            <a:r>
              <a:t> fails for Precipitation.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Wait for it: Stochastic models (Diffusion, GANs) required.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HANDS-ON FOR STUDENTS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Step 1: Run mini-test -&gt; Step 2: Inspect metrics -&gt; Step 3: Diagnostic plots.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COMPUTATIONAL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HPC Node: NVIDIA Grace Hopper (GH200).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Hardware: 480 GB Unified Memory + H100 Tensor Cores.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Inference Performance: ~15.7 days/sec.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Production Speed: 30 years downscaled in &lt; 1 minute.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Significance: Real-time regional climate projection is now possible.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SCIENTIFIC LESSONS &amp; IMPLEMENTATION TRAPS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Trap 1: The Activation Wall: Standard defaults like </a:t>
            </a:r>
            <a:r>
              <a:rPr b="1">
                <a:solidFill>
                  <a:srgbClr val="00F5D4"/>
                </a:solidFill>
              </a:rPr>
              <a:t>ReLU</a:t>
            </a:r>
            <a:r>
              <a:t> can clip climate temperature trends below freezing. Always use Linear Activation for anomalies.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Trap 2: The Regridding Drift: Unifying regridding calls without bit-parity validation can cause alpine pixelation and 5 K biases. Elevation requires raw, unmasked interpolation.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Trap 3: Library Side-Effects: Adding a second logger (TensorBoard) can split your weights into fragmented version folders. Centralize your path resolution from Day 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SUMMARY &amp;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Key: Normalize targets, Skip-connections, DL + Bias Correction.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Reliability: Production-grade code requires HPC architecture awareness.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RESOURCES &amp;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Repository: </a:t>
            </a:r>
            <a:r>
              <a:rPr b="1">
                <a:solidFill>
                  <a:srgbClr val="00F5D4"/>
                </a:solidFill>
              </a:rPr>
              <a:t>github.com/cerfacs-globc/idownscale</a:t>
            </a:r>
            <a:r>
              <a:t/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Collaborators: Cerfacs, Univ. Belgrade.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Acknowledgements: IRISCC Project, Zoé Garcia.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*Keywords: Climate AI, U-Net, Downscaling, France Domain, Numerical Stability.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COMPUTATIONAL ARCHITECTURE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Tech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5D4"/>
                </a:solidFill>
              </a:defRPr>
            </a:pPr>
            <a:r>
              <a:t>HARDWARE: NVIDIA GRACE HOPPER (GH200)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Nodes: 1x NVIDIA Calypso Grace Hopper Node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GPU: H100 Hopper (96GB HBM3 Memory)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CPU: 72-core ARM Neoverse V2 (Grace)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Memory: 480GB LPDDR5X (Unified Memory HW)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• Performance: ~15.7 days/sec (Production Inference)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4592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INDICATIVE ETA</a:t>
                      </a:r>
                    </a:p>
                  </a:txBody>
                  <a:tcPr>
                    <a:solidFill>
                      <a:srgbClr val="0096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1-4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Data Prep &amp; Ibicus BC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~15 min (30y)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ML Training (60 Epochs)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2.5 hours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Century-Scale Inference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~1 min (30y)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7-9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Scientific Gallery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~5 min</a:t>
                      </a:r>
                    </a:p>
                  </a:txBody>
                  <a:tcPr>
                    <a:solidFill>
                      <a:srgbClr val="0C28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REFERENCES &amp;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9144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0BEC5"/>
                </a:solidFill>
              </a:defRPr>
            </a:pPr>
            <a:r>
              <a:t>EGU26 | Christian Pagé, Irida Lazić, Milica Tošić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F5D4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GitHub: https://github.com/cerfacs-globc/idownscale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Conveners: Christian Pagé, Irida Lazić, Milica Tošić 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Keywords: Climate Machine Learning, U-Net, Downscaling, ERA5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Contact: info@cerfacs.fr | GitHub 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